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hyperlink" Target="https://blogs.vmware.com/cloud-foundation/2026/08/21/top-10-vmware-vsphere-kubernetes-service-activation-questions-asked-and-answered/" TargetMode="External"/><Relationship Id="rId3" Type="http://schemas.openxmlformats.org/officeDocument/2006/relationships/hyperlink" Target="https://www.gartner.com/reviews/product/vmware-tanzu-platform" TargetMode="Externa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vmware/vsphere-supervisor/blob/main/supervisor-troubleshooting.md" TargetMode="External"/><Relationship Id="rId3" Type="http://schemas.openxmlformats.org/officeDocument/2006/relationships/hyperlink" Target="https://knowledge.broadcom.com/external/article/323411/common-issues-with-a-vsphere-with-tanzu.html" TargetMode="Externa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hyperlink" Target="https://techdocs.broadcom.com/us/en/vmware-cis/vsphere/vsphere-supervisor/8-0/vsphere-supervisor-services-and-workloads-8-0/configuring-and-managing-vsphere-namespaces/provision-a-self-service-namespace.html" TargetMode="External"/><Relationship Id="rId3" Type="http://schemas.openxmlformats.org/officeDocument/2006/relationships/hyperlink" Target="https://www.qovery.com/blog/self-service-kubernetes-platforms-compared" TargetMode="External"/><Relationship Id="rId4" Type="http://schemas.openxmlformats.org/officeDocument/2006/relationships/hyperlink" Target="https://medium.com/@sneharani2509/we-spent-4-2m-d94404404784" TargetMode="Externa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hyperlink" Target="https://blogs.vmware.com/cloud-foundation/2026/08/21/top-10-vmware-vsphere-kubernetes-service-activation-questions-asked-and-answered/" TargetMode="External"/><Relationship Id="rId3" Type="http://schemas.openxmlformats.org/officeDocument/2006/relationships/hyperlink" Target="https://redresscompliance.com/vcf-licensing-guide-2026.html" TargetMode="Externa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hyperlink" Target="https://blogs.vmware.com/cloud-foundation/2026/08/13/operationalizing-vmware-cloud-foundation-control-plane-for-kubernetes-workloads/" TargetMode="Externa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hyperlink" Target="https://blogs.vmware.com/cloud-foundation/2026/08/21/top-10-vmware-vsphere-kubernetes-service-activation-questions-asked-and-answered/" TargetMode="Externa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hyperlink" Target="https://blogs.vmware.com/cloud-foundation/2026/08/21/top-10-vmware-vsphere-kubernetes-service-activation-questions-asked-and-answered/" TargetMode="External"/><Relationship Id="rId3" Type="http://schemas.openxmlformats.org/officeDocument/2006/relationships/hyperlink" Target="https://blogs.vmware.com/cloud-foundation/2026/08/13/operationalizing-vmware-cloud-foundation-control-plane-for-kubernetes-workloads/" TargetMode="External"/><Relationship Id="rId4" Type="http://schemas.openxmlformats.org/officeDocument/2006/relationships/hyperlink" Target="https://blogs.vmware.com/cloud-foundation/2025/07/13/more-kubernetes-less-waiting-upgrade-vsphere-supervisor-without-updating-vcenter/" TargetMode="External"/><Relationship Id="rId5" Type="http://schemas.openxmlformats.org/officeDocument/2006/relationships/hyperlink" Target="https://github.com/vmware/vsphere-supervisor/blob/main/supervisor-troubleshooting.md" TargetMode="External"/><Relationship Id="rId6" Type="http://schemas.openxmlformats.org/officeDocument/2006/relationships/hyperlink" Target="https://knowledge.broadcom.com/external/article/323411/common-issues-with-a-vsphere-with-tanzu.html" TargetMode="External"/><Relationship Id="rId7" Type="http://schemas.openxmlformats.org/officeDocument/2006/relationships/hyperlink" Target="https://www.gartner.com/reviews/product/vmware-tanzu-platform" TargetMode="External"/><Relationship Id="rId8" Type="http://schemas.openxmlformats.org/officeDocument/2006/relationships/hyperlink" Target="https://www.theregister.com/2020/03/10/vmware_kubernetes_tanzu_vsphere_7/" TargetMode="External"/><Relationship Id="rId9" Type="http://schemas.openxmlformats.org/officeDocument/2006/relationships/hyperlink" Target="https://redresscompliance.com/vcf-licensing-guide-2026.html" TargetMode="External"/><Relationship Id="rId10" Type="http://schemas.openxmlformats.org/officeDocument/2006/relationships/hyperlink" Target="https://www.qovery.com/blog/self-service-kubernetes-platforms-compared" TargetMode="External"/><Relationship Id="rId11" Type="http://schemas.openxmlformats.org/officeDocument/2006/relationships/hyperlink" Target="https://medium.com/@sneharani2509/we-spent-4-2m-d94404404784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274320" y="0"/>
            <a:ext cx="91440" cy="6858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200000" y="2300000"/>
            <a:ext cx="9800000" cy="5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400" b="1" spc="100" dirty="0">
                <a:solidFill>
                  <a:srgbClr val="0091DA"/>
                </a:solidFill>
                <a:latin typeface="Arial"/>
                <a:cs typeface="Arial"/>
              </a:rPr>
              <a:t>SUPERVISOR UX  ·  PLATFORM ENGINEERING PERSONA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0000" y="2750000"/>
            <a:ext cx="9800000" cy="15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001E62"/>
                </a:solidFill>
                <a:latin typeface="Arial"/>
                <a:cs typeface="Arial"/>
              </a:rPr>
              <a:t>Closing the Gap: Supervisor UX for Platform Engineers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0000" y="4150000"/>
            <a:ext cx="9400000" cy="9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5B5F66"/>
                </a:solidFill>
                <a:latin typeface="Arial"/>
                <a:cs typeface="Arial"/>
              </a:rPr>
              <a:t>What the field, analysts, and the broader platform-engineering industry are telling us — and six concrete UX directions in response.</a:t>
            </a:r>
          </a:p>
        </p:txBody>
      </p:sp>
      <p:sp>
        <p:nvSpPr>
          <p:cNvPr id="8" name="Shape 8"/>
          <p:cNvSpPr/>
          <p:nvPr/>
        </p:nvSpPr>
        <p:spPr>
          <a:xfrm>
            <a:off x="1200000" y="5450000"/>
            <a:ext cx="900000" cy="228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200000" y="5550000"/>
            <a:ext cx="9400000" cy="6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5B5F66"/>
                </a:solidFill>
                <a:latin typeface="Arial"/>
                <a:cs typeface="Arial"/>
              </a:rPr>
              <a:t>Sachi Bhatt  |  VCF Workloads and Consumption Product Management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85800" y="320000"/>
            <a:ext cx="10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00" b="1" spc="80" dirty="0">
                <a:solidFill>
                  <a:srgbClr val="0091DA"/>
                </a:solidFill>
                <a:latin typeface="Arial"/>
                <a:cs typeface="Arial"/>
              </a:rPr>
              <a:t>1 OF 6 — DAY-0 RISK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600000"/>
            <a:ext cx="10800000" cy="8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01E62"/>
                </a:solidFill>
                <a:latin typeface="Arial"/>
                <a:cs typeface="Arial"/>
              </a:rPr>
              <a:t>Make the networking decision reversible, not a one-way door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" y="1650000"/>
            <a:ext cx="5290200" cy="17500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685800" y="1650000"/>
            <a:ext cx="68580" cy="1750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658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91DA"/>
                </a:solidFill>
                <a:latin typeface="Arial"/>
                <a:cs typeface="Arial"/>
              </a:rPr>
              <a:t>PAIN POINT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58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Customers activating VKS ask whether NSX VPCs are mandatory — confusion that traces back to a harder problem: the VDS-vs-NSX-VPC choice is made once at Supervisor enablement, and changing it later typically means tearing down and rebuilding the Supervisor.</a:t>
            </a:r>
          </a:p>
        </p:txBody>
      </p:sp>
      <p:sp>
        <p:nvSpPr>
          <p:cNvPr id="17" name="Shape 17"/>
          <p:cNvSpPr/>
          <p:nvPr/>
        </p:nvSpPr>
        <p:spPr>
          <a:xfrm>
            <a:off x="6216000" y="1650000"/>
            <a:ext cx="5290200" cy="1750000"/>
          </a:xfrm>
          <a:prstGeom prst="roundRect">
            <a:avLst/>
          </a:prstGeom>
          <a:solidFill>
            <a:srgbClr val="E4F5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6216000" y="1650000"/>
            <a:ext cx="68580" cy="1750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4960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A0A0"/>
                </a:solidFill>
                <a:latin typeface="Arial"/>
                <a:cs typeface="Arial"/>
              </a:rPr>
              <a:t>PROPOSED DIRECTION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960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Let platform engineers trial NSX VPC on a single namespace or zone before committing the whole Supervisor to it, or ship a supported migration path off VDS later. Lower the blast radius of the first decision.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5800" y="3660000"/>
            <a:ext cx="108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1E62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0" y="3980000"/>
            <a:ext cx="10820400" cy="16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2"/>
              </a:rPr>
              <a:t>VMware VCF Blog — Top 10 VKS Activation Questions, Asked and Answered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3"/>
              </a:rPr>
              <a:t>Gartner Peer Insights — VMware Tanzu Platform (setup/integration complexity)</a:t>
            </a:r>
          </a:p>
        </p:txBody>
      </p:sp>
      <p:sp>
        <p:nvSpPr>
          <p:cNvPr id="23" name="Shape 23"/>
          <p:cNvSpPr/>
          <p:nvPr/>
        </p:nvSpPr>
        <p:spPr>
          <a:xfrm>
            <a:off x="0" y="6736080"/>
            <a:ext cx="12192000" cy="1270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685800" y="6766560"/>
            <a:ext cx="60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VMware by Broadcom  |  Internal — VCF Workloads and Consumption PM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06200" y="6766560"/>
            <a:ext cx="12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685800" y="320000"/>
            <a:ext cx="10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00" b="1" spc="80" dirty="0">
                <a:solidFill>
                  <a:srgbClr val="0091DA"/>
                </a:solidFill>
                <a:latin typeface="Arial"/>
                <a:cs typeface="Arial"/>
              </a:rPr>
              <a:t>2 OF 6 — FIRST-RUN RELIABILITY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5800" y="600000"/>
            <a:ext cx="10800000" cy="8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01E62"/>
                </a:solidFill>
                <a:latin typeface="Arial"/>
                <a:cs typeface="Arial"/>
              </a:rPr>
              <a:t>Ship a preflight “doctor,” not just better troubleshooting docs</a:t>
            </a:r>
          </a:p>
        </p:txBody>
      </p:sp>
      <p:sp>
        <p:nvSpPr>
          <p:cNvPr id="29" name="Shape 29"/>
          <p:cNvSpPr/>
          <p:nvPr/>
        </p:nvSpPr>
        <p:spPr>
          <a:xfrm>
            <a:off x="685800" y="1650000"/>
            <a:ext cx="5290200" cy="17500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685800" y="1650000"/>
            <a:ext cx="68580" cy="1750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9658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91DA"/>
                </a:solidFill>
                <a:latin typeface="Arial"/>
                <a:cs typeface="Arial"/>
              </a:rPr>
              <a:t>PAIN POINT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58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The overwhelming majority of failed Supervisor enablements are environmental — DNS, NTP skew, storage policy misconfiguration — not the Supervisor software itself. Today this surfaces late, as a stuck “Configuring” state, resolved only after digging through KB articles.</a:t>
            </a:r>
          </a:p>
        </p:txBody>
      </p:sp>
      <p:sp>
        <p:nvSpPr>
          <p:cNvPr id="33" name="Shape 33"/>
          <p:cNvSpPr/>
          <p:nvPr/>
        </p:nvSpPr>
        <p:spPr>
          <a:xfrm>
            <a:off x="6216000" y="1650000"/>
            <a:ext cx="5290200" cy="1750000"/>
          </a:xfrm>
          <a:prstGeom prst="roundRect">
            <a:avLst/>
          </a:prstGeom>
          <a:solidFill>
            <a:srgbClr val="E4F5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6216000" y="1650000"/>
            <a:ext cx="68580" cy="1750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64960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A0A0"/>
                </a:solidFill>
                <a:latin typeface="Arial"/>
                <a:cs typeface="Arial"/>
              </a:rPr>
              <a:t>PROPOSED DIRECTION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960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A supervisor preflight check (CLI or UI) that validates DNS, NTP, storage policy, and content-library sync before enablement is attempted, with copy-pasteable remediation inline. The cheapest fix available for the worst first-run impression.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5800" y="3660000"/>
            <a:ext cx="108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1E62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5800" y="3980000"/>
            <a:ext cx="10820400" cy="16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2"/>
              </a:rPr>
              <a:t>vmware/vsphere-supervisor troubleshooting guide (GitHub)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3"/>
              </a:rPr>
              <a:t>Broadcom KB — Cluster deployment stuck in Configuring state</a:t>
            </a:r>
          </a:p>
        </p:txBody>
      </p:sp>
      <p:sp>
        <p:nvSpPr>
          <p:cNvPr id="39" name="Shape 39"/>
          <p:cNvSpPr/>
          <p:nvPr/>
        </p:nvSpPr>
        <p:spPr>
          <a:xfrm>
            <a:off x="0" y="6736080"/>
            <a:ext cx="12192000" cy="1270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685800" y="6766560"/>
            <a:ext cx="60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VMware by Broadcom  |  Internal — VCF Workloads and Consumption PM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06200" y="6766560"/>
            <a:ext cx="12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Box 43"/>
          <p:cNvSpPr txBox="1"/>
          <p:nvPr/>
        </p:nvSpPr>
        <p:spPr>
          <a:xfrm>
            <a:off x="685800" y="320000"/>
            <a:ext cx="10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00" b="1" spc="80" dirty="0">
                <a:solidFill>
                  <a:srgbClr val="0091DA"/>
                </a:solidFill>
                <a:latin typeface="Arial"/>
                <a:cs typeface="Arial"/>
              </a:rPr>
              <a:t>3 OF 6 — GITOPS PARITY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5800" y="600000"/>
            <a:ext cx="10800000" cy="8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01E62"/>
                </a:solidFill>
                <a:latin typeface="Arial"/>
                <a:cs typeface="Arial"/>
              </a:rPr>
              <a:t>Treat golden-path templates as GitOps-native objects, with API/UI parity on day one</a:t>
            </a:r>
          </a:p>
        </p:txBody>
      </p:sp>
      <p:sp>
        <p:nvSpPr>
          <p:cNvPr id="45" name="Shape 45"/>
          <p:cNvSpPr/>
          <p:nvPr/>
        </p:nvSpPr>
        <p:spPr>
          <a:xfrm>
            <a:off x="685800" y="1650000"/>
            <a:ext cx="5290200" cy="17500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Shape 46"/>
          <p:cNvSpPr/>
          <p:nvPr/>
        </p:nvSpPr>
        <p:spPr>
          <a:xfrm>
            <a:off x="685800" y="1650000"/>
            <a:ext cx="68580" cy="1750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extBox 47"/>
          <p:cNvSpPr txBox="1"/>
          <p:nvPr/>
        </p:nvSpPr>
        <p:spPr>
          <a:xfrm>
            <a:off x="9658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91DA"/>
                </a:solidFill>
                <a:latin typeface="Arial"/>
                <a:cs typeface="Arial"/>
              </a:rPr>
              <a:t>PAIN POINT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58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Platform engineers want to codify namespace templates, quotas, RBAC, and network policy tiers as versioned config reviewed through CI — not vCenter wizard clicks. When UI capabilities lag their API/CRD equivalents, teams wait or build brittle workarounds.</a:t>
            </a:r>
          </a:p>
        </p:txBody>
      </p:sp>
      <p:sp>
        <p:nvSpPr>
          <p:cNvPr id="49" name="Shape 49"/>
          <p:cNvSpPr/>
          <p:nvPr/>
        </p:nvSpPr>
        <p:spPr>
          <a:xfrm>
            <a:off x="6216000" y="1650000"/>
            <a:ext cx="5290200" cy="1750000"/>
          </a:xfrm>
          <a:prstGeom prst="roundRect">
            <a:avLst/>
          </a:prstGeom>
          <a:solidFill>
            <a:srgbClr val="E4F5F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Shape 50"/>
          <p:cNvSpPr/>
          <p:nvPr/>
        </p:nvSpPr>
        <p:spPr>
          <a:xfrm>
            <a:off x="6216000" y="1650000"/>
            <a:ext cx="68580" cy="1750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64960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A0A0"/>
                </a:solidFill>
                <a:latin typeface="Arial"/>
                <a:cs typeface="Arial"/>
              </a:rPr>
              <a:t>PROPOSED DIRECTION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4960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Ship every namespace/quota/policy capability with its CRD or API on the same release as its UI surface — no UI-first, API-later sequencing. Make self-service namespace templates a first-class GitOps object end to end.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85800" y="3660000"/>
            <a:ext cx="108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1E62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85800" y="3980000"/>
            <a:ext cx="10820400" cy="16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2"/>
              </a:rPr>
              <a:t>Broadcom TechDocs — Self-Service Namespace Management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3"/>
              </a:rPr>
              <a:t>Qovery — Self-Service Kubernetes Platforms: 9 Options Compared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4"/>
              </a:rPr>
              <a:t>Medium — “We Spent $4.2M on a Kubernetes Platform...” (2026)</a:t>
            </a:r>
          </a:p>
        </p:txBody>
      </p:sp>
      <p:sp>
        <p:nvSpPr>
          <p:cNvPr id="55" name="Shape 55"/>
          <p:cNvSpPr/>
          <p:nvPr/>
        </p:nvSpPr>
        <p:spPr>
          <a:xfrm>
            <a:off x="0" y="6736080"/>
            <a:ext cx="12192000" cy="1270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extBox 56"/>
          <p:cNvSpPr txBox="1"/>
          <p:nvPr/>
        </p:nvSpPr>
        <p:spPr>
          <a:xfrm>
            <a:off x="685800" y="6766560"/>
            <a:ext cx="60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VMware by Broadcom  |  Internal — VCF Workloads and Consumption PM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306200" y="6766560"/>
            <a:ext cx="12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extBox 59"/>
          <p:cNvSpPr txBox="1"/>
          <p:nvPr/>
        </p:nvSpPr>
        <p:spPr>
          <a:xfrm>
            <a:off x="685800" y="320000"/>
            <a:ext cx="10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00" b="1" spc="80" dirty="0">
                <a:solidFill>
                  <a:srgbClr val="0091DA"/>
                </a:solidFill>
                <a:latin typeface="Arial"/>
                <a:cs typeface="Arial"/>
              </a:rPr>
              <a:t>4 OF 6 — TRUST &amp; LOCK-IN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85800" y="600000"/>
            <a:ext cx="10800000" cy="8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01E62"/>
                </a:solidFill>
                <a:latin typeface="Arial"/>
                <a:cs typeface="Arial"/>
              </a:rPr>
              <a:t>Make BYO load balancer and ingress feel first-class, not tolerated</a:t>
            </a:r>
          </a:p>
        </p:txBody>
      </p:sp>
      <p:sp>
        <p:nvSpPr>
          <p:cNvPr id="61" name="Shape 61"/>
          <p:cNvSpPr/>
          <p:nvPr/>
        </p:nvSpPr>
        <p:spPr>
          <a:xfrm>
            <a:off x="685800" y="1650000"/>
            <a:ext cx="5290200" cy="17500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Shape 62"/>
          <p:cNvSpPr/>
          <p:nvPr/>
        </p:nvSpPr>
        <p:spPr>
          <a:xfrm>
            <a:off x="685800" y="1650000"/>
            <a:ext cx="68580" cy="1750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extBox 63"/>
          <p:cNvSpPr txBox="1"/>
          <p:nvPr/>
        </p:nvSpPr>
        <p:spPr>
          <a:xfrm>
            <a:off x="9658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91DA"/>
                </a:solidFill>
                <a:latin typeface="Arial"/>
                <a:cs typeface="Arial"/>
              </a:rPr>
              <a:t>PAIN POINT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658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Customers explicitly ask ‘can we use Citrix ADC/NetScaler instead of Avi?’ — a technical question that's really a trust question, landing on top of broader post-acquisition anxiety about being locked into bundled components regardless of need.</a:t>
            </a:r>
          </a:p>
        </p:txBody>
      </p:sp>
      <p:sp>
        <p:nvSpPr>
          <p:cNvPr id="65" name="Shape 65"/>
          <p:cNvSpPr/>
          <p:nvPr/>
        </p:nvSpPr>
        <p:spPr>
          <a:xfrm>
            <a:off x="6216000" y="1650000"/>
            <a:ext cx="5290200" cy="1750000"/>
          </a:xfrm>
          <a:prstGeom prst="roundRect">
            <a:avLst/>
          </a:prstGeom>
          <a:solidFill>
            <a:srgbClr val="E4F5F4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Shape 66"/>
          <p:cNvSpPr/>
          <p:nvPr/>
        </p:nvSpPr>
        <p:spPr>
          <a:xfrm>
            <a:off x="6216000" y="1650000"/>
            <a:ext cx="68580" cy="1750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extBox 67"/>
          <p:cNvSpPr txBox="1"/>
          <p:nvPr/>
        </p:nvSpPr>
        <p:spPr>
          <a:xfrm>
            <a:off x="64960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A0A0"/>
                </a:solidFill>
                <a:latin typeface="Arial"/>
                <a:cs typeface="Arial"/>
              </a:rPr>
              <a:t>PROPOSED DIRECTION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4960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Give third-party load balancers equal status and health visibility inside the Supervisor UI (not just Avi), and lead documentation with supported alternatives. Low engineering cost, high trust payoff.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85800" y="3660000"/>
            <a:ext cx="108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1E62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85800" y="3980000"/>
            <a:ext cx="10820400" cy="16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2"/>
              </a:rPr>
              <a:t>VMware VCF Blog — Top 10 VKS Activation Questions, Asked and Answered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3"/>
              </a:rPr>
              <a:t>Redress Compliance — VCF Licensing Guide 2026 (bundling concerns)</a:t>
            </a:r>
          </a:p>
        </p:txBody>
      </p:sp>
      <p:sp>
        <p:nvSpPr>
          <p:cNvPr id="71" name="Shape 71"/>
          <p:cNvSpPr/>
          <p:nvPr/>
        </p:nvSpPr>
        <p:spPr>
          <a:xfrm>
            <a:off x="0" y="6736080"/>
            <a:ext cx="12192000" cy="1270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Box 72"/>
          <p:cNvSpPr txBox="1"/>
          <p:nvPr/>
        </p:nvSpPr>
        <p:spPr>
          <a:xfrm>
            <a:off x="685800" y="6766560"/>
            <a:ext cx="60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VMware by Broadcom  |  Internal — VCF Workloads and Consumption PM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306200" y="6766560"/>
            <a:ext cx="12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extBox 75"/>
          <p:cNvSpPr txBox="1"/>
          <p:nvPr/>
        </p:nvSpPr>
        <p:spPr>
          <a:xfrm>
            <a:off x="685800" y="320000"/>
            <a:ext cx="10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00" b="1" spc="80" dirty="0">
                <a:solidFill>
                  <a:srgbClr val="0091DA"/>
                </a:solidFill>
                <a:latin typeface="Arial"/>
                <a:cs typeface="Arial"/>
              </a:rPr>
              <a:t>5 OF 6 — VISIBILITY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85800" y="600000"/>
            <a:ext cx="10800000" cy="8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01E62"/>
                </a:solidFill>
                <a:latin typeface="Arial"/>
                <a:cs typeface="Arial"/>
              </a:rPr>
              <a:t>Give platform engineers native per-tenant capacity and cost visibility</a:t>
            </a:r>
          </a:p>
        </p:txBody>
      </p:sp>
      <p:sp>
        <p:nvSpPr>
          <p:cNvPr id="77" name="Shape 77"/>
          <p:cNvSpPr/>
          <p:nvPr/>
        </p:nvSpPr>
        <p:spPr>
          <a:xfrm>
            <a:off x="685800" y="1650000"/>
            <a:ext cx="5290200" cy="17500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Shape 78"/>
          <p:cNvSpPr/>
          <p:nvPr/>
        </p:nvSpPr>
        <p:spPr>
          <a:xfrm>
            <a:off x="685800" y="1650000"/>
            <a:ext cx="68580" cy="1750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TextBox 79"/>
          <p:cNvSpPr txBox="1"/>
          <p:nvPr/>
        </p:nvSpPr>
        <p:spPr>
          <a:xfrm>
            <a:off x="9658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91DA"/>
                </a:solidFill>
                <a:latin typeface="Arial"/>
                <a:cs typeface="Arial"/>
              </a:rPr>
              <a:t>PAIN POINT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658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When a platform is a black box on cost and capacity, developer teams either wait on tickets or go around it entirely — shadow IT, siloed external clusters. Supervisor's namespace model is the natural unit for this, but it isn't exposed as data platform engineers can build on.</a:t>
            </a:r>
          </a:p>
        </p:txBody>
      </p:sp>
      <p:sp>
        <p:nvSpPr>
          <p:cNvPr id="81" name="Shape 81"/>
          <p:cNvSpPr/>
          <p:nvPr/>
        </p:nvSpPr>
        <p:spPr>
          <a:xfrm>
            <a:off x="6216000" y="1650000"/>
            <a:ext cx="5290200" cy="1750000"/>
          </a:xfrm>
          <a:prstGeom prst="roundRect">
            <a:avLst/>
          </a:prstGeom>
          <a:solidFill>
            <a:srgbClr val="E4F5F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Shape 82"/>
          <p:cNvSpPr/>
          <p:nvPr/>
        </p:nvSpPr>
        <p:spPr>
          <a:xfrm>
            <a:off x="6216000" y="1650000"/>
            <a:ext cx="68580" cy="1750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TextBox 83"/>
          <p:cNvSpPr txBox="1"/>
          <p:nvPr/>
        </p:nvSpPr>
        <p:spPr>
          <a:xfrm>
            <a:off x="64960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A0A0"/>
                </a:solidFill>
                <a:latin typeface="Arial"/>
                <a:cs typeface="Arial"/>
              </a:rPr>
              <a:t>PROPOSED DIRECTION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4960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Expose per-namespace/per-tenant resource-and-cost data as API/CRD, not buried in vCenter screens — so platform teams can surface it in whatever portal they already run (Backstage, internal dashboards) instead of sending users into the vSphere Client.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85800" y="3660000"/>
            <a:ext cx="108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1E62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85800" y="3980000"/>
            <a:ext cx="10820400" cy="16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2"/>
              </a:rPr>
              <a:t>VMware VCF Blog — Operationalizing the VCF Control Plane for Kubernetes Workloads</a:t>
            </a:r>
          </a:p>
        </p:txBody>
      </p:sp>
      <p:sp>
        <p:nvSpPr>
          <p:cNvPr id="87" name="Shape 87"/>
          <p:cNvSpPr/>
          <p:nvPr/>
        </p:nvSpPr>
        <p:spPr>
          <a:xfrm>
            <a:off x="0" y="6736080"/>
            <a:ext cx="12192000" cy="1270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TextBox 88"/>
          <p:cNvSpPr txBox="1"/>
          <p:nvPr/>
        </p:nvSpPr>
        <p:spPr>
          <a:xfrm>
            <a:off x="685800" y="6766560"/>
            <a:ext cx="60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VMware by Broadcom  |  Internal — VCF Workloads and Consumption PM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306200" y="6766560"/>
            <a:ext cx="12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TextBox 91"/>
          <p:cNvSpPr txBox="1"/>
          <p:nvPr/>
        </p:nvSpPr>
        <p:spPr>
          <a:xfrm>
            <a:off x="685800" y="320000"/>
            <a:ext cx="10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00" b="1" spc="80" dirty="0">
                <a:solidFill>
                  <a:srgbClr val="0091DA"/>
                </a:solidFill>
                <a:latin typeface="Arial"/>
                <a:cs typeface="Arial"/>
              </a:rPr>
              <a:t>6 OF 6 — GOVERNANCE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85800" y="600000"/>
            <a:ext cx="10800000" cy="8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01E62"/>
                </a:solidFill>
                <a:latin typeface="Arial"/>
                <a:cs typeface="Arial"/>
              </a:rPr>
              <a:t>Replace lost multi-cluster governance parity after Tanzu Mission Control</a:t>
            </a:r>
          </a:p>
        </p:txBody>
      </p:sp>
      <p:sp>
        <p:nvSpPr>
          <p:cNvPr id="93" name="Shape 93"/>
          <p:cNvSpPr/>
          <p:nvPr/>
        </p:nvSpPr>
        <p:spPr>
          <a:xfrm>
            <a:off x="685800" y="1650000"/>
            <a:ext cx="5290200" cy="1750000"/>
          </a:xfrm>
          <a:prstGeom prst="roundRect">
            <a:avLst/>
          </a:prstGeom>
          <a:solidFill>
            <a:srgbClr val="E8F3F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Shape 94"/>
          <p:cNvSpPr/>
          <p:nvPr/>
        </p:nvSpPr>
        <p:spPr>
          <a:xfrm>
            <a:off x="685800" y="1650000"/>
            <a:ext cx="68580" cy="1750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TextBox 95"/>
          <p:cNvSpPr txBox="1"/>
          <p:nvPr/>
        </p:nvSpPr>
        <p:spPr>
          <a:xfrm>
            <a:off x="9658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91DA"/>
                </a:solidFill>
                <a:latin typeface="Arial"/>
                <a:cs typeface="Arial"/>
              </a:rPr>
              <a:t>PAIN POINT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658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Teams that used Tanzu Mission Control as their unified fleet-governance layer had to relearn governance across VCF Automation when TMC's role changed — a fragmentation complaint distinct from any feature-completeness complaint.</a:t>
            </a:r>
          </a:p>
        </p:txBody>
      </p:sp>
      <p:sp>
        <p:nvSpPr>
          <p:cNvPr id="97" name="Shape 97"/>
          <p:cNvSpPr/>
          <p:nvPr/>
        </p:nvSpPr>
        <p:spPr>
          <a:xfrm>
            <a:off x="6216000" y="1650000"/>
            <a:ext cx="5290200" cy="1750000"/>
          </a:xfrm>
          <a:prstGeom prst="roundRect">
            <a:avLst/>
          </a:prstGeom>
          <a:solidFill>
            <a:srgbClr val="E4F5F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Shape 98"/>
          <p:cNvSpPr/>
          <p:nvPr/>
        </p:nvSpPr>
        <p:spPr>
          <a:xfrm>
            <a:off x="6216000" y="1650000"/>
            <a:ext cx="68580" cy="17500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TextBox 99"/>
          <p:cNvSpPr txBox="1"/>
          <p:nvPr/>
        </p:nvSpPr>
        <p:spPr>
          <a:xfrm>
            <a:off x="6496000" y="1830000"/>
            <a:ext cx="479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A0A0"/>
                </a:solidFill>
                <a:latin typeface="Arial"/>
                <a:cs typeface="Arial"/>
              </a:rPr>
              <a:t>PROPOSED DIRECTION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496000" y="2170000"/>
            <a:ext cx="4790200" cy="10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B2E33"/>
                </a:solidFill>
                <a:latin typeface="Arial"/>
                <a:cs typeface="Arial"/>
              </a:rPr>
              <a:t>Ship a first-class, GitOps-driven policy layer (OPA/Kyverno-style) applied uniformly across Supervisor-native and attached clusters, positioned explicitly as TMC's governance successor.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85800" y="3660000"/>
            <a:ext cx="108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100" b="1" spc="60" dirty="0">
                <a:solidFill>
                  <a:srgbClr val="001E62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85800" y="3980000"/>
            <a:ext cx="10820400" cy="160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250" dirty="0">
                <a:solidFill>
                  <a:srgbClr val="0091DA"/>
                </a:solidFill>
                <a:latin typeface="Arial"/>
                <a:cs typeface="Arial"/>
                <a:hlinkClick r:id="rId2"/>
              </a:rPr>
              <a:t>VMware VCF Blog — Top 10 VKS Activation Questions, Asked and Answered</a:t>
            </a:r>
          </a:p>
        </p:txBody>
      </p:sp>
      <p:sp>
        <p:nvSpPr>
          <p:cNvPr id="103" name="Shape 103"/>
          <p:cNvSpPr/>
          <p:nvPr/>
        </p:nvSpPr>
        <p:spPr>
          <a:xfrm>
            <a:off x="0" y="6736080"/>
            <a:ext cx="12192000" cy="1270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TextBox 104"/>
          <p:cNvSpPr txBox="1"/>
          <p:nvPr/>
        </p:nvSpPr>
        <p:spPr>
          <a:xfrm>
            <a:off x="685800" y="6766560"/>
            <a:ext cx="60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VMware by Broadcom  |  Internal — VCF Workloads and Consumption PM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306200" y="6766560"/>
            <a:ext cx="12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TextBox 107"/>
          <p:cNvSpPr txBox="1"/>
          <p:nvPr/>
        </p:nvSpPr>
        <p:spPr>
          <a:xfrm>
            <a:off x="685800" y="320000"/>
            <a:ext cx="10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00" b="1" spc="80" dirty="0">
                <a:solidFill>
                  <a:srgbClr val="0091DA"/>
                </a:solidFill>
                <a:latin typeface="Arial"/>
                <a:cs typeface="Arial"/>
              </a:rPr>
              <a:t>APPENDIX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85800" y="600000"/>
            <a:ext cx="10800000" cy="85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01E62"/>
                </a:solidFill>
                <a:latin typeface="Arial"/>
                <a:cs typeface="Arial"/>
              </a:rPr>
              <a:t>Sources &amp; Further Reading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85800" y="1650000"/>
            <a:ext cx="52902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01E62"/>
                </a:solidFill>
                <a:latin typeface="Arial"/>
                <a:cs typeface="Arial"/>
              </a:rPr>
              <a:t>VMware / Broadcom field content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85800" y="1970000"/>
            <a:ext cx="5290200" cy="242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2"/>
              </a:rPr>
              <a:t>Top 10 VKS Activation Questions, Asked and Answered</a:t>
            </a:r>
          </a:p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3"/>
              </a:rPr>
              <a:t>Operationalizing the VCF Control Plane for Kubernetes Workloads</a:t>
            </a:r>
          </a:p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4"/>
              </a:rPr>
              <a:t>Upgrade vSphere Supervisor Without Updating vCenter</a:t>
            </a:r>
          </a:p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5"/>
              </a:rPr>
              <a:t>vsphere-supervisor troubleshooting guide (GitHub)</a:t>
            </a:r>
          </a:p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6"/>
              </a:rPr>
              <a:t>Broadcom KB — Cluster deployment stuck in Configuring state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216000" y="1650000"/>
            <a:ext cx="52902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01E62"/>
                </a:solidFill>
                <a:latin typeface="Arial"/>
                <a:cs typeface="Arial"/>
              </a:rPr>
              <a:t>Independent / analyst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216000" y="1970000"/>
            <a:ext cx="5290200" cy="158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7"/>
              </a:rPr>
              <a:t>Gartner Peer Insights — VMware Tanzu Platform</a:t>
            </a:r>
          </a:p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8"/>
              </a:rPr>
              <a:t>The Register (2020) — “Kubernetes is 'still hard'...”</a:t>
            </a:r>
          </a:p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9"/>
              </a:rPr>
              <a:t>Redress Compliance — VCF Licensing Guide 2026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85800" y="4390000"/>
            <a:ext cx="5290200" cy="2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01E62"/>
                </a:solidFill>
                <a:latin typeface="Arial"/>
                <a:cs typeface="Arial"/>
              </a:rPr>
              <a:t>Broader platform-engineering industry (context)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85800" y="4710000"/>
            <a:ext cx="5290200" cy="116000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10"/>
              </a:rPr>
              <a:t>Qovery — Self-Service Kubernetes Platforms: 9 Options Compared</a:t>
            </a:r>
          </a:p>
          <a:p>
            <a:pPr algn="l" marL="228600" indent="-228600">
              <a:spcAft>
                <a:spcPts val="350"/>
              </a:spcAft>
              <a:buFont typeface="Arial"/>
              <a:buChar char="•"/>
            </a:pPr>
            <a:r>
              <a:rPr lang="en-US" sz="1150" dirty="0">
                <a:solidFill>
                  <a:srgbClr val="0091DA"/>
                </a:solidFill>
                <a:latin typeface="Arial"/>
                <a:cs typeface="Arial"/>
                <a:hlinkClick r:id="rId11"/>
              </a:rPr>
              <a:t>Medium — “We Spent $4.2M on a Kubernetes Platform...”</a:t>
            </a:r>
          </a:p>
        </p:txBody>
      </p:sp>
      <p:sp>
        <p:nvSpPr>
          <p:cNvPr id="115" name="Shape 115"/>
          <p:cNvSpPr/>
          <p:nvPr/>
        </p:nvSpPr>
        <p:spPr>
          <a:xfrm>
            <a:off x="0" y="6736080"/>
            <a:ext cx="12192000" cy="1270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TextBox 116"/>
          <p:cNvSpPr txBox="1"/>
          <p:nvPr/>
        </p:nvSpPr>
        <p:spPr>
          <a:xfrm>
            <a:off x="685800" y="6766560"/>
            <a:ext cx="60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VMware by Broadcom  |  Internal — VCF Workloads and Consumption PM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0306200" y="6766560"/>
            <a:ext cx="1200000" cy="274320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5B5F66"/>
                </a:solidFill>
                <a:latin typeface="Arial"/>
                <a:cs typeface="Arial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MwareLight">
  <a:themeElements>
    <a:clrScheme name="VMwareLight">
      <a:dk1>
        <a:srgbClr val="2B2E33"/>
      </a:dk1>
      <a:lt1>
        <a:srgbClr val="FFFFFF"/>
      </a:lt1>
      <a:dk2>
        <a:srgbClr val="001E62"/>
      </a:dk2>
      <a:lt2>
        <a:srgbClr val="E8F3FB"/>
      </a:lt2>
      <a:accent1>
        <a:srgbClr val="0091DA"/>
      </a:accent1>
      <a:accent2>
        <a:srgbClr val="00A0A0"/>
      </a:accent2>
      <a:accent3>
        <a:srgbClr val="001E62"/>
      </a:accent3>
      <a:accent4>
        <a:srgbClr val="5B5F66"/>
      </a:accent4>
      <a:accent5>
        <a:srgbClr val="D9DCE1"/>
      </a:accent5>
      <a:accent6>
        <a:srgbClr val="E4F5F4"/>
      </a:accent6>
      <a:hlink>
        <a:srgbClr val="0091DA"/>
      </a:hlink>
      <a:folHlink>
        <a:srgbClr val="001E6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Claude Code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Closing the Gap: Supervisor UX for Platform Engineers</dc:title>
  <dc:creator>Sachi Bhatt</dc:creator>
  <cp:lastModifiedBy>Sachi Bhatt</cp:lastModifiedBy>
</cp:coreProperties>
</file>